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(≈30 s)</a:t>
            </a:r>
          </a:p>
          <a:p/>
          <a:p>
            <a:r>
              <a:t>Hello everyone, we are Pierre Massy and Volkan Ozcoban.</a:t>
            </a:r>
          </a:p>
          <a:p>
            <a:r>
              <a:t>Today we present our final MPA-MLF project: classifying how many people — zero, one, two or three — are inside a room, only from a 60 GHz radar image.</a:t>
            </a:r>
          </a:p>
          <a:p>
            <a:r>
              <a:t>The competition was run on Kaggle; out of the class we finished 4th, with a public leaderboard accuracy of 97.57 percent.</a:t>
            </a:r>
          </a:p>
          <a:p>
            <a:r>
              <a:t>The slides will walk you through the problem, our preprocessing, the model we trained, and our final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(≈1 min)</a:t>
            </a:r>
          </a:p>
          <a:p/>
          <a:p>
            <a:r>
              <a:t>The data comes from a 60 GHz millimetre-wave radar.</a:t>
            </a:r>
          </a:p>
          <a:p>
            <a:r>
              <a:t>For every one-second window, the radar emits chirps and returns a *delay–Doppler image*:</a:t>
            </a:r>
          </a:p>
          <a:p>
            <a:r>
              <a:t>  the vertical axis is distance, the horizontal axis is velocity,</a:t>
            </a:r>
          </a:p>
          <a:p>
            <a:r>
              <a:t>  and the colour intensity measures the reflected power.</a:t>
            </a:r>
          </a:p>
          <a:p/>
          <a:p>
            <a:r>
              <a:t>Our job is to count how many people are in the room — 0, 1, 2 or 3.</a:t>
            </a:r>
          </a:p>
          <a:p>
            <a:r>
              <a:t>It's a simple 4-class classification problem, evaluated with plain accuracy.</a:t>
            </a:r>
          </a:p>
          <a:p/>
          <a:p>
            <a:r>
              <a:t>The training set has 9 227 images and we must predict 3 955 images.</a:t>
            </a:r>
          </a:p>
          <a:p>
            <a:r>
              <a:t>The class distribution is unbalanced: 3 persons is under-represented,</a:t>
            </a:r>
          </a:p>
          <a:p>
            <a:r>
              <a:t>so getting that class right is the key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(≈1 min 15 s)</a:t>
            </a:r>
          </a:p>
          <a:p/>
          <a:p>
            <a:r>
              <a:t>The preprocessing is deliberately minimal.</a:t>
            </a:r>
          </a:p>
          <a:p>
            <a:r>
              <a:t>We load each radar PNG, pad the 45×51 image up to 48×64 so that four conv strides divide cleanly, then rescale to zero-one.</a:t>
            </a:r>
          </a:p>
          <a:p>
            <a:r>
              <a:t>At training time we only apply two light augmentations: a random pixel shift and a horizontal flip.</a:t>
            </a:r>
          </a:p>
          <a:p/>
          <a:p>
            <a:r>
              <a:t>For the model we did NOT use transfer learning — ImageNet weights make no sense on a 48×64 radar spectrogram.</a:t>
            </a:r>
          </a:p>
          <a:p>
            <a:r>
              <a:t>We train a small custom CNN from scratch, the "StrongCNN":</a:t>
            </a:r>
          </a:p>
          <a:p>
            <a:r>
              <a:t>  four convolutional blocks going 3 → 48 → 96 → 192 → 384 channels,</a:t>
            </a:r>
          </a:p>
          <a:p>
            <a:r>
              <a:t>  SiLU activations, BatchNorm, and a head that concatenates global average and global max pooling, then projects to 4 logits.</a:t>
            </a:r>
          </a:p>
          <a:p>
            <a:r>
              <a:t>  Around 5.7 million parameters — small enough to train on Colab T4 in 15 minutes per seed.</a:t>
            </a:r>
          </a:p>
          <a:p/>
          <a:p>
            <a:r>
              <a:t>We use AdamW with cosine learning-rate annealing, mixup alpha 0.1, and a batch size of 512.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(≈1 min 30 s)</a:t>
            </a:r>
          </a:p>
          <a:p/>
          <a:p>
            <a:r>
              <a:t>Training a single CNN only takes you to about 96 % accuracy.</a:t>
            </a:r>
          </a:p>
          <a:p>
            <a:r>
              <a:t>To push further we combined three simple tricks shown on the pipeline at the top.</a:t>
            </a:r>
          </a:p>
          <a:p/>
          <a:p>
            <a:r>
              <a:t>First, multi-seed training. We retrain the exact same architecture with 5 different random seeds.</a:t>
            </a:r>
          </a:p>
          <a:p>
            <a:r>
              <a:t>Each seed ends up making slightly different mistakes, and averaging their probabilities removes some of that noise.</a:t>
            </a:r>
          </a:p>
          <a:p/>
          <a:p>
            <a:r>
              <a:t>Second, pseudo-labeling. Once the 5-seed ensemble predicts the test set,</a:t>
            </a:r>
          </a:p>
          <a:p>
            <a:r>
              <a:t>we keep the images where the averaged confidence is above 99 percent.</a:t>
            </a:r>
          </a:p>
          <a:p>
            <a:r>
              <a:t>That gave us 2 291 extra "free" labels, which we fed back into a second round of training.</a:t>
            </a:r>
          </a:p>
          <a:p/>
          <a:p>
            <a:r>
              <a:t>Third — and this is the key lesson of the project — we tried to stack the models using a logistic regression on the out-of-fold probabilities.</a:t>
            </a:r>
          </a:p>
          <a:p>
            <a:r>
              <a:t>The stacker looked great in cross-validation, 97.07 percent OOF.</a:t>
            </a:r>
          </a:p>
          <a:p>
            <a:r>
              <a:t>But when we actually submitted it, the leaderboard DROPPED by almost 0.7 percent.</a:t>
            </a:r>
          </a:p>
          <a:p>
            <a:r>
              <a:t>So we went back to the simplest possible blend — just averaging probabilities — and that is what gave us the final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(≈1 min 15 s)</a:t>
            </a:r>
          </a:p>
          <a:p/>
          <a:p>
            <a:r>
              <a:t>Our final submission reached 97.57 percent accuracy on the Kaggle public leaderboard, which puts us in fourth place of the class.</a:t>
            </a:r>
          </a:p>
          <a:p>
            <a:r>
              <a:t>For reference the top submission is at 97.82 percent, so we are less than 0.3 percentage points behind the winner.</a:t>
            </a:r>
          </a:p>
          <a:p/>
          <a:p>
            <a:r>
              <a:t>Looking at the confusion matrix on the right, the classifier is almost perfect on the zero-person class.</a:t>
            </a:r>
          </a:p>
          <a:p>
            <a:r>
              <a:t>The hardest class is "3 persons", which is both the least frequent in the training set and the one where people tend to occlude each other in the radar image.</a:t>
            </a:r>
          </a:p>
          <a:p>
            <a:r>
              <a:t>The confusions are almost always between neighbouring classes — 1 vs 2, or 2 vs 3 — which is a reasonable failure mode.</a:t>
            </a:r>
          </a:p>
          <a:p/>
          <a:p>
            <a:r>
              <a:t>The take-home message is on the bottom:</a:t>
            </a:r>
          </a:p>
          <a:p>
            <a:r>
              <a:t>we did NOT need a transformer, transfer learning or a heavy pipeline.</a:t>
            </a:r>
          </a:p>
          <a:p>
            <a:r>
              <a:t>A small CNN trained from scratch, averaged over 5 seeds and boosted with pseudo-labels, was enough to reach nearly the top of the class.</a:t>
            </a:r>
          </a:p>
          <a:p/>
          <a:p>
            <a:r>
              <a:t>Thank you — we'd be happy to take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9F1F9"/>
                </a:solidFill>
                <a:latin typeface="Helvetica"/>
              </a:rPr>
              <a:t>MPA-MLF  • 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846320"/>
            <a:ext cx="2286000" cy="118872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Helvetica"/>
              </a:rPr>
              <a:t>Rank #4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Helvetica"/>
              </a:rPr>
              <a:t>Kaggle public LB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4A017"/>
                </a:solidFill>
                <a:latin typeface="Helvetica"/>
              </a:rPr>
              <a:t>Final Project — MPA-MLF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7315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F4E79"/>
                </a:solidFill>
                <a:latin typeface="Helvetica"/>
              </a:rPr>
              <a:t>Room Occupancy</a:t>
            </a:r>
          </a:p>
          <a:p>
            <a:pPr algn="l"/>
            <a:r>
              <a:rPr sz="4400" b="1" i="0">
                <a:solidFill>
                  <a:srgbClr val="1F4E79"/>
                </a:solidFill>
                <a:latin typeface="Helvetica"/>
              </a:rPr>
              <a:t>from 60 GHz Radar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0233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222222"/>
                </a:solidFill>
                <a:latin typeface="Helvetica"/>
              </a:rPr>
              <a:t>A pure-CNN ensemble that classifies 0–3 persons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846320"/>
            <a:ext cx="2743200" cy="3657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5029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22222"/>
                </a:solidFill>
                <a:latin typeface="Helvetica"/>
              </a:rPr>
              <a:t>Pierre Massy  &amp;  Volkan Ozcoban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5778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Helvetica"/>
              </a:rPr>
              <a:t>ISEP  •  Kaggle 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9436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Helvetica"/>
              </a:rPr>
              <a:t>Final score: 0.97565   (Top 1 = 0.97819)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Helvetica"/>
              </a:rPr>
              <a:t>1 · The problem and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9F1F9"/>
                </a:solidFill>
                <a:latin typeface="Helvetica"/>
              </a:rPr>
              <a:t>4-class image classification  •  metric =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Helvetica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Helvetica"/>
              </a:rPr>
              <a:t>• A 60 GHz mmWave radar produces one</a:t>
            </a:r>
          </a:p>
          <a:p>
            <a:pPr algn="l"/>
            <a:r>
              <a:rPr sz="1500" b="0" i="0">
                <a:solidFill>
                  <a:srgbClr val="222222"/>
                </a:solidFill>
                <a:latin typeface="Helvetica"/>
              </a:rPr>
              <a:t>   delay–Doppler image per 1-second sample.</a:t>
            </a:r>
          </a:p>
          <a:p>
            <a:pPr algn="l"/>
            <a:r>
              <a:rPr sz="1500" b="0" i="0">
                <a:solidFill>
                  <a:srgbClr val="222222"/>
                </a:solidFill>
                <a:latin typeface="Helvetica"/>
              </a:rPr>
              <a:t/>
            </a:r>
          </a:p>
          <a:p>
            <a:pPr algn="l"/>
            <a:r>
              <a:rPr sz="1500" b="0" i="0">
                <a:solidFill>
                  <a:srgbClr val="222222"/>
                </a:solidFill>
                <a:latin typeface="Helvetica"/>
              </a:rPr>
              <a:t>• Colour-encoded image  45 × 51 pixels, RGB.</a:t>
            </a:r>
          </a:p>
          <a:p>
            <a:pPr algn="l"/>
            <a:r>
              <a:rPr sz="1500" b="0" i="0">
                <a:solidFill>
                  <a:srgbClr val="222222"/>
                </a:solidFill>
                <a:latin typeface="Helvetica"/>
              </a:rPr>
              <a:t/>
            </a:r>
          </a:p>
          <a:p>
            <a:pPr algn="l"/>
            <a:r>
              <a:rPr sz="1500" b="0" i="0">
                <a:solidFill>
                  <a:srgbClr val="222222"/>
                </a:solidFill>
                <a:latin typeface="Helvetica"/>
              </a:rPr>
              <a:t>• Paded to 48 × 64 so CNN strides are clean.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Helvetica"/>
              </a:rP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Helvetica"/>
              </a:rPr>
              <a:t>How many people are in the room?</a:t>
            </a:r>
          </a:p>
          <a:p>
            <a:pPr algn="l"/>
            <a:r>
              <a:rPr sz="1500" b="0" i="0">
                <a:solidFill>
                  <a:srgbClr val="222222"/>
                </a:solidFill>
                <a:latin typeface="Helvetica"/>
              </a:rPr>
              <a:t>   → classes 0, 1, 2 or 3.</a:t>
            </a:r>
          </a:p>
          <a:p>
            <a:pPr algn="l"/>
            <a:r>
              <a:rPr sz="1500" b="0" i="0">
                <a:solidFill>
                  <a:srgbClr val="222222"/>
                </a:solidFill>
                <a:latin typeface="Helvetica"/>
              </a:rPr>
              <a:t/>
            </a:r>
          </a:p>
          <a:p>
            <a:pPr algn="l"/>
            <a:r>
              <a:rPr sz="1500" b="0" i="0">
                <a:solidFill>
                  <a:srgbClr val="222222"/>
                </a:solidFill>
                <a:latin typeface="Helvetica"/>
              </a:rPr>
              <a:t>No sequential info — each image is independent.</a:t>
            </a:r>
          </a:p>
        </p:txBody>
      </p:sp>
      <p:pic>
        <p:nvPicPr>
          <p:cNvPr id="9" name="Picture 8" descr="s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486400" cy="322483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0" y="5120640"/>
            <a:ext cx="5486400" cy="1097280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521208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Helvetica"/>
              </a:rPr>
              <a:t>Dataset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6235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Helvetica"/>
              </a:rPr>
              <a:t>9 227 training images  •  3 955 test images</a:t>
            </a:r>
          </a:p>
          <a:p>
            <a:pPr algn="l"/>
            <a:r>
              <a:rPr sz="1300" b="0" i="0">
                <a:solidFill>
                  <a:srgbClr val="222222"/>
                </a:solidFill>
                <a:latin typeface="Helvetica"/>
              </a:rPr>
              <a:t>Classes imbalanced → class 3 is the hardest.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Helvetica"/>
              </a:rPr>
              <a:t>Pierre Massy &amp; Volkan Ozcoban  •  MPA-MLF 2026  •  ISEP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Helvetica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Helvetica"/>
              </a:rPr>
              <a:t>2 · Preprocessing and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9F1F9"/>
                </a:solidFill>
                <a:latin typeface="Helvetica"/>
              </a:rPr>
              <a:t>A simple CNN trained from scratch — no transfer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Helvetica"/>
              </a:rPr>
              <a:t>Preprocessing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Helvetica"/>
              </a:rPr>
              <a:t>Load PNG as RGB uint8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606040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06040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Helvetica"/>
              </a:rPr>
              <a:t>Pad 45×51 → 48×64 (mirror)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29000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Helvetica"/>
              </a:rPr>
              <a:t>Normalize to [0, 1]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251960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51960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Helvetica"/>
              </a:rPr>
              <a:t>Light augmentation:</a:t>
            </a:r>
          </a:p>
          <a:p>
            <a:pPr algn="l"/>
            <a:r>
              <a:rPr sz="1300" b="0" i="0">
                <a:solidFill>
                  <a:srgbClr val="222222"/>
                </a:solidFill>
                <a:latin typeface="Helvetica"/>
              </a:rPr>
              <a:t>     random shift ±2 px, horizontal flip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Helvetica"/>
              </a:rPr>
              <a:t>Model</a:t>
            </a:r>
          </a:p>
        </p:txBody>
      </p:sp>
      <p:pic>
        <p:nvPicPr>
          <p:cNvPr id="15" name="Picture 14" descr="s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852160" cy="1779781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217920" y="5120640"/>
            <a:ext cx="5852160" cy="1188720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5212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Helvetica"/>
              </a:rPr>
              <a:t>Training recipe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57784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Helvetica"/>
              </a:rPr>
              <a:t>AdamW  •  cosine LR  •  50 epochs  •  mixup α = 0.1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Helvetica"/>
              </a:rPr>
              <a:t>batch 512 on Colab T4 (CUDA) — ~15 min per seed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Helvetica"/>
              </a:rPr>
              <a:t>Pierre Massy &amp; Volkan Ozcoban  •  MPA-MLF 2026  •  ISEP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Helvetica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Helvetica"/>
              </a:rPr>
              <a:t>3 · What actually wins: ensemble + pseudo-labels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9F1F9"/>
                </a:solidFill>
                <a:latin typeface="Helvetica"/>
              </a:rPr>
              <a:t>Simple averaging beat a fancy stacker</a:t>
            </a:r>
          </a:p>
        </p:txBody>
      </p:sp>
      <p:pic>
        <p:nvPicPr>
          <p:cNvPr id="5" name="Picture 4" descr="s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887200" cy="30054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4023360"/>
            <a:ext cx="3840480" cy="2286000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4023360"/>
            <a:ext cx="3840480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Helvetica"/>
              </a:rPr>
              <a:t>Multi-seed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09160"/>
            <a:ext cx="34747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Helvetica"/>
              </a:rPr>
              <a:t>Train the same CNN with 5 different random seeds.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Helvetica"/>
              </a:rPr>
              <a:t/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Helvetica"/>
              </a:rPr>
              <a:t>Each seed learns slightly different errors — averaging them removes noise.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4023360"/>
            <a:ext cx="3840480" cy="2286000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4023360"/>
            <a:ext cx="3840480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2062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Helvetica"/>
              </a:rPr>
              <a:t>Pseudo-labeling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709160"/>
            <a:ext cx="34747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Helvetica"/>
              </a:rPr>
              <a:t>Predict the test set.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Helvetica"/>
              </a:rPr>
              <a:t/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Helvetica"/>
              </a:rPr>
              <a:t>Keep the 2 291 test images where the blend is ≥ 99 % confident.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Helvetica"/>
              </a:rPr>
              <a:t/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Helvetica"/>
              </a:rPr>
              <a:t>Retrain using those as extra ground truth.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4023360"/>
            <a:ext cx="3840480" cy="2286000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4023360"/>
            <a:ext cx="3840480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2062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Helvetica"/>
              </a:rPr>
              <a:t>No-stack blending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709160"/>
            <a:ext cx="34747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Helvetica"/>
              </a:rPr>
              <a:t>Simply average the probabilities of our CNN models.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Helvetica"/>
              </a:rPr>
              <a:t/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Helvetica"/>
              </a:rPr>
              <a:t>Tried a LogReg stacker on OOF probs → better CV, but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Helvetica"/>
              </a:rPr>
              <a:t>WORSE leaderboard. Dropped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Helvetica"/>
              </a:rPr>
              <a:t>Pierre Massy &amp; Volkan Ozcoban  •  MPA-MLF 2026  •  ISEP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Helvetica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Helvetica"/>
              </a:rPr>
              <a:t>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9F1F9"/>
                </a:solidFill>
                <a:latin typeface="Helvetica"/>
              </a:rPr>
              <a:t>Final leaderboard  •  where the errors 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57600" cy="2011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9F1F9"/>
                </a:solidFill>
                <a:latin typeface="Helvetica"/>
              </a:rPr>
              <a:t>Final leaderboard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Helvetica"/>
              </a:rPr>
              <a:t>0.9757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9F1F9"/>
                </a:solidFill>
                <a:latin typeface="Helvetica"/>
              </a:rPr>
              <a:t>accuracy  •  rank #4 / class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83280"/>
            <a:ext cx="3657600" cy="2560320"/>
          </a:xfrm>
          <a:prstGeom prst="rect">
            <a:avLst/>
          </a:prstGeom>
          <a:solidFill>
            <a:srgbClr val="E9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Helvetica"/>
              </a:rPr>
              <a:t>Leaderboard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Helvetica"/>
              </a:rPr>
              <a:t>Top 1 in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8862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D4A017"/>
                </a:solidFill>
                <a:latin typeface="Helvetica"/>
              </a:rPr>
              <a:t>0.97819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024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Helvetica"/>
              </a:rPr>
              <a:t>Us (final)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27024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F4E79"/>
                </a:solidFill>
                <a:latin typeface="Helvetica"/>
              </a:rPr>
              <a:t>0.97565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5429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Helvetica"/>
              </a:rPr>
              <a:t>Full-fit + pseudo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654296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666666"/>
                </a:solidFill>
                <a:latin typeface="Helvetica"/>
              </a:rPr>
              <a:t>0.97515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3834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Helvetica"/>
              </a:rPr>
              <a:t>Stacker variant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038344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666666"/>
                </a:solidFill>
                <a:latin typeface="Helvetica"/>
              </a:rPr>
              <a:t>0.96855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223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Helvetica"/>
              </a:rPr>
              <a:t>Features only (HGB)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42239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666666"/>
                </a:solidFill>
                <a:latin typeface="Helvetica"/>
              </a:rPr>
              <a:t>0.9328</a:t>
            </a:r>
          </a:p>
        </p:txBody>
      </p:sp>
      <p:pic>
        <p:nvPicPr>
          <p:cNvPr id="21" name="Picture 20" descr="s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188720"/>
            <a:ext cx="7589520" cy="280540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389120" y="5394960"/>
            <a:ext cx="7589520" cy="9144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5486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"/>
              </a:rPr>
              <a:t>Take-home message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8521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Helvetica"/>
              </a:rPr>
              <a:t>A small CNN from scratch + multi-seed average + pseudo-labels  ⇒  within 0.3 % of the best team.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Helvetica"/>
              </a:rPr>
              <a:t>Pierre Massy &amp; Volkan Ozcoban  •  MPA-MLF 2026  •  ISEP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Helvetica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